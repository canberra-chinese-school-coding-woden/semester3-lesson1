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4"/>
  </p:notesMasterIdLst>
  <p:sldIdLst>
    <p:sldId id="256" r:id="rId2"/>
    <p:sldId id="328" r:id="rId3"/>
    <p:sldId id="399" r:id="rId4"/>
    <p:sldId id="386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</p:sldIdLst>
  <p:sldSz cx="9144000" cy="5143500" type="screen16x9"/>
  <p:notesSz cx="6858000" cy="9144000"/>
  <p:embeddedFontLst>
    <p:embeddedFont>
      <p:font typeface="Amatic SC" panose="02010600030101010101" charset="-79"/>
      <p:regular r:id="rId25"/>
      <p:bold r:id="rId26"/>
    </p:embeddedFont>
    <p:embeddedFont>
      <p:font typeface="Didact Gothic" panose="02010600030101010101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30806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1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(Variables)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Data Types &amp; </a:t>
            </a:r>
            <a:r>
              <a:rPr lang="en-US" altLang="zh-CN" sz="1800" dirty="0" smtClean="0">
                <a:solidFill>
                  <a:schemeClr val="tx1"/>
                </a:solidFill>
              </a:rPr>
              <a:t>Variables: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Strings </a:t>
            </a:r>
            <a:r>
              <a:rPr lang="en-US" altLang="zh-CN" sz="1800" dirty="0">
                <a:solidFill>
                  <a:schemeClr val="tx1"/>
                </a:solidFill>
              </a:rPr>
              <a:t>(text), Integers (whole numbers), Floats (decimals), Booleans (True/False</a:t>
            </a:r>
            <a:r>
              <a:rPr lang="en-US" altLang="zh-CN" sz="1800" dirty="0" smtClean="0">
                <a:solidFill>
                  <a:schemeClr val="tx1"/>
                </a:solidFill>
              </a:rPr>
              <a:t>).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Type </a:t>
            </a:r>
            <a:r>
              <a:rPr lang="en-US" altLang="zh-CN" sz="1800" dirty="0">
                <a:solidFill>
                  <a:schemeClr val="tx1"/>
                </a:solidFill>
              </a:rPr>
              <a:t>conversion (e.g., </a:t>
            </a:r>
            <a:r>
              <a:rPr lang="en-US" altLang="zh-CN" sz="1800" dirty="0" err="1">
                <a:solidFill>
                  <a:schemeClr val="tx1"/>
                </a:solidFill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</a:rPr>
              <a:t>(), </a:t>
            </a:r>
            <a:r>
              <a:rPr lang="en-US" altLang="zh-CN" sz="1800" dirty="0" err="1">
                <a:solidFill>
                  <a:schemeClr val="tx1"/>
                </a:solidFill>
              </a:rPr>
              <a:t>str</a:t>
            </a:r>
            <a:r>
              <a:rPr lang="en-US" altLang="zh-CN" sz="1800" dirty="0" smtClean="0">
                <a:solidFill>
                  <a:schemeClr val="tx1"/>
                </a:solidFill>
              </a:rPr>
              <a:t>())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User input </a:t>
            </a:r>
            <a:r>
              <a:rPr lang="en-US" altLang="zh-CN" sz="1800" dirty="0">
                <a:solidFill>
                  <a:schemeClr val="tx1"/>
                </a:solidFill>
              </a:rPr>
              <a:t>with input</a:t>
            </a:r>
            <a:r>
              <a:rPr lang="en-US" altLang="zh-CN" sz="1800" dirty="0" smtClean="0">
                <a:solidFill>
                  <a:schemeClr val="tx1"/>
                </a:solidFill>
              </a:rPr>
              <a:t>()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Lists</a:t>
            </a:r>
          </a:p>
        </p:txBody>
      </p:sp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(Variables)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846" y="1549020"/>
            <a:ext cx="71247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1"/>
          <p:cNvSpPr/>
          <p:nvPr/>
        </p:nvSpPr>
        <p:spPr>
          <a:xfrm>
            <a:off x="4497577" y="1626500"/>
            <a:ext cx="481657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11"/>
          <p:cNvSpPr/>
          <p:nvPr/>
        </p:nvSpPr>
        <p:spPr>
          <a:xfrm>
            <a:off x="5452517" y="1987071"/>
            <a:ext cx="871010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11"/>
          <p:cNvSpPr/>
          <p:nvPr/>
        </p:nvSpPr>
        <p:spPr>
          <a:xfrm>
            <a:off x="6979200" y="2310546"/>
            <a:ext cx="960625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1"/>
          <p:cNvSpPr/>
          <p:nvPr/>
        </p:nvSpPr>
        <p:spPr>
          <a:xfrm>
            <a:off x="6738371" y="2730120"/>
            <a:ext cx="481657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247108" y="3030552"/>
            <a:ext cx="972920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1"/>
          <p:cNvSpPr/>
          <p:nvPr/>
        </p:nvSpPr>
        <p:spPr>
          <a:xfrm>
            <a:off x="4290495" y="3427395"/>
            <a:ext cx="688739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677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(lists)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AU" altLang="zh-CN" sz="1800" dirty="0" smtClean="0">
                <a:solidFill>
                  <a:schemeClr val="tx1"/>
                </a:solidFill>
              </a:rPr>
              <a:t>Lists: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0-based </a:t>
            </a:r>
            <a:r>
              <a:rPr lang="en-AU" altLang="zh-CN" sz="1800" dirty="0">
                <a:solidFill>
                  <a:schemeClr val="tx1"/>
                </a:solidFill>
              </a:rPr>
              <a:t>indexing: first item is list[0</a:t>
            </a:r>
            <a:r>
              <a:rPr lang="en-AU" altLang="zh-CN" sz="1800" dirty="0" smtClean="0">
                <a:solidFill>
                  <a:schemeClr val="tx1"/>
                </a:solidFill>
              </a:rPr>
              <a:t>].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Access/modify </a:t>
            </a:r>
            <a:r>
              <a:rPr lang="en-AU" altLang="zh-CN" sz="1800" dirty="0">
                <a:solidFill>
                  <a:schemeClr val="tx1"/>
                </a:solidFill>
              </a:rPr>
              <a:t>elements: names[n</a:t>
            </a:r>
            <a:r>
              <a:rPr lang="en-AU" altLang="zh-CN" sz="1800" dirty="0" smtClean="0">
                <a:solidFill>
                  <a:schemeClr val="tx1"/>
                </a:solidFill>
              </a:rPr>
              <a:t>].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Operations</a:t>
            </a:r>
            <a:r>
              <a:rPr lang="en-AU" altLang="zh-CN" sz="1800" dirty="0">
                <a:solidFill>
                  <a:schemeClr val="tx1"/>
                </a:solidFill>
              </a:rPr>
              <a:t>: append, remove, etc</a:t>
            </a:r>
            <a:r>
              <a:rPr lang="en-AU" altLang="zh-CN" sz="1800" dirty="0" smtClean="0">
                <a:solidFill>
                  <a:schemeClr val="tx1"/>
                </a:solidFill>
              </a:rPr>
              <a:t>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Lists </a:t>
            </a:r>
            <a:r>
              <a:rPr lang="en-AU" altLang="zh-CN" sz="1800" dirty="0">
                <a:solidFill>
                  <a:schemeClr val="tx1"/>
                </a:solidFill>
              </a:rPr>
              <a:t>can store mixed types.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9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(lists)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270" y="1564603"/>
            <a:ext cx="6838614" cy="1893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1"/>
          <p:cNvSpPr/>
          <p:nvPr/>
        </p:nvSpPr>
        <p:spPr>
          <a:xfrm>
            <a:off x="3634693" y="1851880"/>
            <a:ext cx="4189222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11"/>
          <p:cNvSpPr/>
          <p:nvPr/>
        </p:nvSpPr>
        <p:spPr>
          <a:xfrm>
            <a:off x="3782800" y="2105924"/>
            <a:ext cx="3210428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11"/>
          <p:cNvSpPr/>
          <p:nvPr/>
        </p:nvSpPr>
        <p:spPr>
          <a:xfrm>
            <a:off x="2849081" y="2511436"/>
            <a:ext cx="2032012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1"/>
          <p:cNvSpPr/>
          <p:nvPr/>
        </p:nvSpPr>
        <p:spPr>
          <a:xfrm>
            <a:off x="3203251" y="3054230"/>
            <a:ext cx="661836" cy="3004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883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If we want to create a list of the first 5 even positive numbers, what can we do?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59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If we want to create a list of the first 5 even positive numbers, what can we do?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That’s simple enough.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But what if we want to create a list of the first 100 even positive numbers? Wouldn’t writing out each number manually be quite a hassle?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218" y="2178934"/>
            <a:ext cx="318611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02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try this.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prints                                              because i starts at 0 and ends at 4, but we want 2,4,6,8,10. so what should we do instead?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107" y="1959204"/>
            <a:ext cx="2620755" cy="1539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826" y="3499145"/>
            <a:ext cx="1908643" cy="407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640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Approach 1: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prints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217" y="1814936"/>
            <a:ext cx="3530242" cy="1737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549" y="3552467"/>
            <a:ext cx="2347913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949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Approach 2: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also prints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013" y="3552467"/>
            <a:ext cx="2347913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031" y="1829451"/>
            <a:ext cx="5026449" cy="158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76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So if we want a list of the first 100 positive even numbers…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01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So if we want a list of the first 100 positive even numbers…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prints                                                                         … all the way to 200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346" y="1765240"/>
            <a:ext cx="4986426" cy="1479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627" y="3652151"/>
            <a:ext cx="3652703" cy="186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809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We can verify that it is the first 100 positive even number by checking the length of our list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751" y="2415473"/>
            <a:ext cx="5511979" cy="169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168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creates a list of the first 100 odd numbers</a:t>
            </a:r>
          </a:p>
        </p:txBody>
      </p:sp>
    </p:spTree>
    <p:extLst>
      <p:ext uri="{BB962C8B-B14F-4D97-AF65-F5344CB8AC3E}">
        <p14:creationId xmlns:p14="http://schemas.microsoft.com/office/powerpoint/2010/main" val="273259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creates a list of the first 100 odd numbers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We simply put a minus 1 after i * 2.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985" y="2276999"/>
            <a:ext cx="5225759" cy="1087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498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creates a list of the first 100 odd numbers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To verify: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63" y="2529008"/>
            <a:ext cx="5451991" cy="1940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490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creates a list of the first 100 positive multiples of 5.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List looks like [5, 10, 15, 20, …, 495, 500]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81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creates a list of the first 100 positive multiples of 5.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418" y="1971016"/>
            <a:ext cx="5050552" cy="1788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728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creates a list of the first 100 squares of positive numbers.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List will look like [1, 4, 9, 16, 25, …, 9801, 10000]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55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creates a list of the first 100 squares of positive numbers.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830" y="2379687"/>
            <a:ext cx="5169884" cy="1649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331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Fibonacci </a:t>
            </a:r>
            <a:r>
              <a:rPr lang="en-US" altLang="zh-CN" sz="1800" dirty="0" smtClean="0">
                <a:solidFill>
                  <a:schemeClr val="tx1"/>
                </a:solidFill>
              </a:rPr>
              <a:t>sequence is a sequence that starts with 0 and 1, and each term after is the sum of the two preceding terms.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It looks like this: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0, 1, 1, 2, 3, 5, 8, 13, 21, 34, 55…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32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Homework: </a:t>
            </a:r>
            <a:r>
              <a:rPr lang="en-US" altLang="zh-CN" sz="1800" dirty="0" smtClean="0">
                <a:solidFill>
                  <a:schemeClr val="tx1"/>
                </a:solidFill>
              </a:rPr>
              <a:t>write a script that creates a list containing the first 100 terms (at least) of the Fibonacci sequence 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list should look like this: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0, 1, 1, 2, 3, 5, 8, 13, 21, 34, 55… all the way to really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really</a:t>
            </a:r>
            <a:r>
              <a:rPr lang="en-US" altLang="zh-CN" sz="1800" dirty="0" smtClean="0">
                <a:solidFill>
                  <a:schemeClr val="tx1"/>
                </a:solidFill>
              </a:rPr>
              <a:t> large numbers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00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3666</TotalTime>
  <Words>620</Words>
  <Application>Microsoft Office PowerPoint</Application>
  <PresentationFormat>On-screen Show (16:9)</PresentationFormat>
  <Paragraphs>98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Amatic SC</vt:lpstr>
      <vt:lpstr>Didact Gothic</vt:lpstr>
      <vt:lpstr>Arial</vt:lpstr>
      <vt:lpstr>Giant Doodles Newsletter by Slidesgo</vt:lpstr>
      <vt:lpstr>Python week 1</vt:lpstr>
      <vt:lpstr>Review (Variables)</vt:lpstr>
      <vt:lpstr>Review (Variables)</vt:lpstr>
      <vt:lpstr>Review (lists)</vt:lpstr>
      <vt:lpstr>Review (lists)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81</cp:revision>
  <dcterms:modified xsi:type="dcterms:W3CDTF">2026-10-17T05:11:45Z</dcterms:modified>
</cp:coreProperties>
</file>